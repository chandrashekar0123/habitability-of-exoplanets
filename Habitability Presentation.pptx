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Bricolage Grotesque SemiBold"/>
      <p:regular r:id="rId22"/>
      <p:bold r:id="rId23"/>
    </p:embeddedFont>
    <p:embeddedFont>
      <p:font typeface="Bricolage Grotesque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uKWJqUUQg3sakAVREIdgymYVD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BricolageGrotesque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BricolageGrotesque-regular.fntdata"/><Relationship Id="rId23" Type="http://schemas.openxmlformats.org/officeDocument/2006/relationships/font" Target="fonts/BricolageGrotesque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BricolageGrotesq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92979c7e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b92979c7e3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92979c7e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b92979c7e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92979c7e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b92979c7e3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92979c7e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b92979c7e3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92979c7e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b92979c7e3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92979c7e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b92979c7e3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92979c7e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b92979c7e3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92979c7e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b92979c7e3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92979c7e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92979c7e3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92979c7e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b92979c7e3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8125">
            <a:off x="541928" y="1028700"/>
            <a:ext cx="18931100" cy="8983668"/>
          </a:xfrm>
          <a:custGeom>
            <a:rect b="b" l="l" r="r" t="t"/>
            <a:pathLst>
              <a:path extrusionOk="0" h="8983668" w="18931100">
                <a:moveTo>
                  <a:pt x="0" y="0"/>
                </a:moveTo>
                <a:lnTo>
                  <a:pt x="18931101" y="0"/>
                </a:lnTo>
                <a:lnTo>
                  <a:pt x="18931101" y="8983668"/>
                </a:lnTo>
                <a:lnTo>
                  <a:pt x="0" y="8983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0734675" y="785862"/>
            <a:ext cx="7553325" cy="8715276"/>
          </a:xfrm>
          <a:custGeom>
            <a:rect b="b" l="l" r="r" t="t"/>
            <a:pathLst>
              <a:path extrusionOk="0" h="1387131" w="1202194">
                <a:moveTo>
                  <a:pt x="20499" y="0"/>
                </a:moveTo>
                <a:lnTo>
                  <a:pt x="1181695" y="0"/>
                </a:lnTo>
                <a:cubicBezTo>
                  <a:pt x="1187132" y="0"/>
                  <a:pt x="1192346" y="2160"/>
                  <a:pt x="1196190" y="6004"/>
                </a:cubicBezTo>
                <a:cubicBezTo>
                  <a:pt x="1200035" y="9849"/>
                  <a:pt x="1202194" y="15063"/>
                  <a:pt x="1202194" y="20499"/>
                </a:cubicBezTo>
                <a:lnTo>
                  <a:pt x="1202194" y="1366632"/>
                </a:lnTo>
                <a:cubicBezTo>
                  <a:pt x="1202194" y="1372069"/>
                  <a:pt x="1200035" y="1377283"/>
                  <a:pt x="1196190" y="1381127"/>
                </a:cubicBezTo>
                <a:cubicBezTo>
                  <a:pt x="1192346" y="1384972"/>
                  <a:pt x="1187132" y="1387131"/>
                  <a:pt x="1181695" y="1387131"/>
                </a:cubicBezTo>
                <a:lnTo>
                  <a:pt x="20499" y="1387131"/>
                </a:lnTo>
                <a:cubicBezTo>
                  <a:pt x="9178" y="1387131"/>
                  <a:pt x="0" y="1377954"/>
                  <a:pt x="0" y="1366632"/>
                </a:cubicBezTo>
                <a:lnTo>
                  <a:pt x="0" y="20499"/>
                </a:lnTo>
                <a:cubicBezTo>
                  <a:pt x="0" y="15063"/>
                  <a:pt x="2160" y="9849"/>
                  <a:pt x="6004" y="6004"/>
                </a:cubicBezTo>
                <a:cubicBezTo>
                  <a:pt x="9849" y="2160"/>
                  <a:pt x="15063" y="0"/>
                  <a:pt x="2049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39" l="0" r="0" t="-240"/>
            </a:stretch>
          </a:blip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 rot="10800000">
            <a:off x="15740737" y="6462605"/>
            <a:ext cx="3479615" cy="4575763"/>
            <a:chOff x="-101668" y="-68231"/>
            <a:chExt cx="4639486" cy="6101016"/>
          </a:xfrm>
        </p:grpSpPr>
        <p:grpSp>
          <p:nvGrpSpPr>
            <p:cNvPr id="87" name="Google Shape;87;p1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19050">
                <a:solidFill>
                  <a:srgbClr val="D4F59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525" lIns="152525" spcFirstLastPara="1" rIns="152525" wrap="square" tIns="152525">
                <a:noAutofit/>
              </a:bodyPr>
              <a:lstStyle/>
              <a:p>
                <a:pPr indent="0" lvl="0" marL="0" marR="0" rtl="0" algn="ctr">
                  <a:lnSpc>
                    <a:spcPct val="13077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5700" lIns="55700" spcFirstLastPara="1" rIns="55700" wrap="square" tIns="55700">
                <a:noAutofit/>
              </a:bodyPr>
              <a:lstStyle/>
              <a:p>
                <a:pPr indent="0" lvl="0" marL="0" marR="0" rtl="0" algn="ctr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1"/>
          <p:cNvSpPr/>
          <p:nvPr/>
        </p:nvSpPr>
        <p:spPr>
          <a:xfrm>
            <a:off x="12768943" y="3086100"/>
            <a:ext cx="4490357" cy="4114800"/>
          </a:xfrm>
          <a:custGeom>
            <a:rect b="b" l="l" r="r" t="t"/>
            <a:pathLst>
              <a:path extrusionOk="0" h="4114800" w="4490357">
                <a:moveTo>
                  <a:pt x="0" y="0"/>
                </a:moveTo>
                <a:lnTo>
                  <a:pt x="4490357" y="0"/>
                </a:lnTo>
                <a:lnTo>
                  <a:pt x="4490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4" name="Google Shape;94;p1"/>
          <p:cNvGrpSpPr/>
          <p:nvPr/>
        </p:nvGrpSpPr>
        <p:grpSpPr>
          <a:xfrm>
            <a:off x="273813" y="2839650"/>
            <a:ext cx="10596412" cy="7587473"/>
            <a:chOff x="90350" y="1743381"/>
            <a:chExt cx="14128550" cy="7772458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90350" y="1743381"/>
              <a:ext cx="14038200" cy="304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57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Exoplanet Habitability Prediction Using Machine Learning</a:t>
              </a:r>
              <a:endParaRPr b="1" sz="5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28002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1099"/>
                <a:buFont typeface="Arial"/>
                <a:buNone/>
              </a:pPr>
              <a:r>
                <a:t/>
              </a:r>
              <a:endParaRPr sz="5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3797200" y="6317239"/>
              <a:ext cx="10421700" cy="3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05"/>
                <a:buFont typeface="Arial"/>
                <a:buNone/>
              </a:pPr>
              <a:r>
                <a:rPr b="1" lang="en-US" sz="2705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By</a:t>
              </a:r>
              <a:endParaRPr b="1" sz="27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705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Name: </a:t>
              </a:r>
              <a:r>
                <a:rPr lang="en-US" sz="2705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K. Chandra Shekar Reddy</a:t>
              </a:r>
              <a:endParaRPr sz="27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705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Degree: </a:t>
              </a:r>
              <a:r>
                <a:rPr lang="en-US" sz="2705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B.Tech – Artificial Intelligence</a:t>
              </a:r>
              <a:endParaRPr sz="27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705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Institution:</a:t>
              </a:r>
              <a:r>
                <a:rPr lang="en-US" sz="2705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Vidya Jyothi Institute of Technology</a:t>
              </a:r>
              <a:endParaRPr sz="27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705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Type:</a:t>
              </a:r>
              <a:r>
                <a:rPr lang="en-US" sz="2705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Machine Learning &amp; Full-Stack Project</a:t>
              </a:r>
              <a:endParaRPr sz="27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05"/>
                <a:buFont typeface="Arial"/>
                <a:buNone/>
              </a:pPr>
              <a:r>
                <a:t/>
              </a:r>
              <a:endParaRPr sz="27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92979c7e3_0_21"/>
          <p:cNvSpPr txBox="1"/>
          <p:nvPr/>
        </p:nvSpPr>
        <p:spPr>
          <a:xfrm>
            <a:off x="2277075" y="1312650"/>
            <a:ext cx="13419000" cy="7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5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5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●"/>
            </a:pPr>
            <a:r>
              <a:rPr lang="en-US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Exoplanets are planets outside our solar system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●"/>
            </a:pPr>
            <a:r>
              <a:rPr lang="en-US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habitable exoplanets is a major challenge in astronomy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●"/>
            </a:pPr>
            <a:r>
              <a:rPr lang="en-US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astronomical datasets require intelligent analysis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●"/>
            </a:pPr>
            <a:r>
              <a:rPr lang="en-US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helps identify complex patterns efficiently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●"/>
            </a:pPr>
            <a:r>
              <a:rPr lang="en-US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predicts exoplanet habitability using ML models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t/>
            </a:r>
            <a:endParaRPr b="1" sz="1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92979c7e3_0_13"/>
          <p:cNvSpPr txBox="1"/>
          <p:nvPr/>
        </p:nvSpPr>
        <p:spPr>
          <a:xfrm>
            <a:off x="803700" y="383225"/>
            <a:ext cx="12403200" cy="4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analysis of exoplanet data is time-consuming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 contain missing values and class imbalance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Habitability labels are not always available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an automated, accurate prediction system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a deployable and user-friendly solution</a:t>
            </a:r>
            <a:endParaRPr b="1" sz="4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g3b92979c7e3_0_13"/>
          <p:cNvSpPr txBox="1"/>
          <p:nvPr/>
        </p:nvSpPr>
        <p:spPr>
          <a:xfrm>
            <a:off x="8384975" y="4900025"/>
            <a:ext cx="105549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 and analyze exoplanet datasets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and preprocess raw data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 meaningful habitability-related features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and compare multiple ML models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and rank exoplanets based on habitability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full-stack application and deploy it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92979c7e3_0_17"/>
          <p:cNvSpPr txBox="1"/>
          <p:nvPr/>
        </p:nvSpPr>
        <p:spPr>
          <a:xfrm>
            <a:off x="294675" y="214325"/>
            <a:ext cx="9135000" cy="9491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collected from open-source platforms (Kaggle)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Planetary features: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Mass, radius, temperature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Orbital period, distance from star</a:t>
            </a:r>
            <a:b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Stellar features: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 temperature, luminosity, metallicity</a:t>
            </a:r>
            <a:b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Challenges: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values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direct habitability labels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imbalance</a:t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g3b92979c7e3_0_17"/>
          <p:cNvSpPr txBox="1"/>
          <p:nvPr/>
        </p:nvSpPr>
        <p:spPr>
          <a:xfrm>
            <a:off x="9429675" y="2565000"/>
            <a:ext cx="8786700" cy="5157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Preprocessing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Detected and handled missing values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irrelevant and redundant features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Corrected data types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Outlier detection using boxplots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scaling using standardization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Encoding categorical features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92979c7e3_0_34"/>
          <p:cNvSpPr txBox="1"/>
          <p:nvPr/>
        </p:nvSpPr>
        <p:spPr>
          <a:xfrm>
            <a:off x="562575" y="1339450"/>
            <a:ext cx="8947500" cy="51363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</a:t>
            </a:r>
            <a:endParaRPr b="1"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analysis for feature selection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scientific indices: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Habitability Score Index (HSI)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Stellar Compatibility Index (SCI)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class imbalance using SMOTE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data quality and model performance</a:t>
            </a:r>
            <a:endParaRPr b="1" sz="9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92979c7e3_0_34"/>
          <p:cNvSpPr txBox="1"/>
          <p:nvPr/>
        </p:nvSpPr>
        <p:spPr>
          <a:xfrm>
            <a:off x="9822550" y="3677300"/>
            <a:ext cx="7804800" cy="5538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Preparation</a:t>
            </a:r>
            <a:endParaRPr b="1" sz="5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Defined target variable: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Binary: Habitable / Non-Habitable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Multi-class: Low, Medium, High habitability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Train–test split (80:20)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preprocessing pipelines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Ensured no data leakage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t/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92979c7e3_0_48"/>
          <p:cNvSpPr txBox="1"/>
          <p:nvPr/>
        </p:nvSpPr>
        <p:spPr>
          <a:xfrm>
            <a:off x="187525" y="187525"/>
            <a:ext cx="18100500" cy="9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Models Used</a:t>
            </a:r>
            <a:endParaRPr b="1" sz="5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 linear classification algorithm used as a baseline model for predicting habitability classes.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K-Nearest Neighbors (KNN)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Classifies exoplanets based on similarity to nearby data points.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Vector Machine (SVM)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Finds an optimal decision boundary to separate habitable and non-habitable planets.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Uses a tree-like structure to make decisions based on feature conditions.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An ensemble of multiple decision trees that improves accuracy and reduces overfitting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 powerful gradient boosting algorithm that handles complex patterns and class imbalance effectively.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Evaluation Metrics</a:t>
            </a:r>
            <a:endParaRPr b="1" sz="5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Measures the overall correctness of model predictions.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Indicates how many predicted habitable planets are actually habitable.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Measures the model’s ability to identify all truly habitable planets.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F1-score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 balanced metric combining both precision and recall.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ROC-AUC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Evaluates the model’s ability to distinguish between classes across thresholds.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Matrix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Provides a detailed breakdown of correct and incorrect predictions.</a:t>
            </a:r>
            <a:endParaRPr b="1" sz="10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92979c7e3_0_53"/>
          <p:cNvSpPr txBox="1"/>
          <p:nvPr/>
        </p:nvSpPr>
        <p:spPr>
          <a:xfrm>
            <a:off x="0" y="0"/>
            <a:ext cx="18162900" cy="101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Comparison &amp; Results</a:t>
            </a:r>
            <a:endParaRPr b="1" sz="5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machine learning models were evaluated to identify the most reliable approach for habitability prediction.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and XGBoost achieved the highest overall performance</a:t>
            </a:r>
            <a:endParaRPr b="1"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effectively handled class imbalance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improving recall for minority classes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models (Logistic Regression, SVM)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showed limited performance on rare habitable cases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models demonstrated better generalization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unseen data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was selected as the final model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based on accuracy, robustness, and consistency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Exoplanet Ranking</a:t>
            </a:r>
            <a:endParaRPr b="1" sz="5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final model selection, exoplanets were ranked using predicted probabilities.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 outputs from XGBoost</a:t>
            </a: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were used for ranking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Exoplanets were </a:t>
            </a: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sorted based on habitability likelihood</a:t>
            </a:r>
            <a:endParaRPr b="1"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Char char="●"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Higher-ranked planets indicate greater potential for habitability</a:t>
            </a:r>
            <a:endParaRPr b="1"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Ranking helps </a:t>
            </a: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prioritize promising exoplanets for further astronomical research</a:t>
            </a:r>
            <a:endParaRPr b="1"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92979c7e3_0_44"/>
          <p:cNvSpPr txBox="1"/>
          <p:nvPr/>
        </p:nvSpPr>
        <p:spPr>
          <a:xfrm>
            <a:off x="133950" y="160725"/>
            <a:ext cx="178950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Architecture </a:t>
            </a:r>
            <a:endParaRPr b="1" sz="92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3b92979c7e3_0_44" title="ChatGPT Image Jan 20, 2026, 02_54_51 PM.png"/>
          <p:cNvPicPr preferRelativeResize="0"/>
          <p:nvPr/>
        </p:nvPicPr>
        <p:blipFill rotWithShape="1">
          <a:blip r:embed="rId3">
            <a:alphaModFix/>
          </a:blip>
          <a:srcRect b="9338" l="3017" r="4714" t="0"/>
          <a:stretch/>
        </p:blipFill>
        <p:spPr>
          <a:xfrm>
            <a:off x="7634875" y="0"/>
            <a:ext cx="10126275" cy="1044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92979c7e3_0_57"/>
          <p:cNvSpPr txBox="1"/>
          <p:nvPr/>
        </p:nvSpPr>
        <p:spPr>
          <a:xfrm>
            <a:off x="214300" y="0"/>
            <a:ext cx="18073800" cy="99504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b="1"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follows a modular and scalable system architecture.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UI</a:t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using HTML, CSS, and Bootstrap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Collects user input and displays predictions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API</a:t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using Flask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requests, validation, and responses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Model</a:t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XGBoost model for prediction and ranking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g3b92979c7e3_0_57"/>
          <p:cNvSpPr txBox="1"/>
          <p:nvPr/>
        </p:nvSpPr>
        <p:spPr>
          <a:xfrm>
            <a:off x="10867500" y="2946800"/>
            <a:ext cx="7420500" cy="5947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Layer</a:t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user inputs and prediction results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&amp; Deployment</a:t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Analytical dashboards and cloud-based deployment</a:t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92979c7e3_0_65"/>
          <p:cNvSpPr txBox="1"/>
          <p:nvPr/>
        </p:nvSpPr>
        <p:spPr>
          <a:xfrm>
            <a:off x="2893200" y="1580550"/>
            <a:ext cx="13635600" cy="78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&amp; Visualization</a:t>
            </a:r>
            <a:endParaRPr b="1"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is fully deployed with interactive visualization support.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500"/>
              <a:buChar char="●"/>
            </a:pP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 REST APIs</a:t>
            </a: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enable real-time habitability prediction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Char char="●"/>
            </a:pP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frontend interface</a:t>
            </a: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user-friendly input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dashboard includes:</a:t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importance analysis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Habitability score distribution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○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analysis between parameters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Char char="●"/>
            </a:pP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Deployed on cloud platform</a:t>
            </a: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public access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imes New Roman"/>
              <a:buChar char="●"/>
            </a:pP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Reports exported in PDF and Excel for</a:t>
            </a: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ats</a:t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/>
          <p:nvPr/>
        </p:nvSpPr>
        <p:spPr>
          <a:xfrm>
            <a:off x="666750" y="800100"/>
            <a:ext cx="59877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75"/>
              <a:buFont typeface="Arial"/>
              <a:buNone/>
            </a:pPr>
            <a:r>
              <a:rPr b="1" i="0" lang="en-US" sz="6675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Fac</a:t>
            </a:r>
            <a:r>
              <a:rPr b="1" lang="en-US" sz="6675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4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53" name="Google Shape;153;p4"/>
            <p:cNvSpPr/>
            <p:nvPr/>
          </p:nvSpPr>
          <p:spPr>
            <a:xfrm>
              <a:off x="0" y="0"/>
              <a:ext cx="769424" cy="336039"/>
            </a:xfrm>
            <a:custGeom>
              <a:rect b="b" l="l" r="r" t="t"/>
              <a:pathLst>
                <a:path extrusionOk="0" h="336039" w="769424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cmpd="sng" w="19050">
              <a:solidFill>
                <a:srgbClr val="2BCA8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525" lIns="75525" spcFirstLastPara="1" rIns="75525" wrap="square" tIns="75525">
              <a:noAutofit/>
            </a:bodyPr>
            <a:lstStyle/>
            <a:p>
              <a:pPr indent="0" lvl="0" marL="0" marR="0" rtl="0" algn="ctr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4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156" name="Google Shape;156;p4"/>
            <p:cNvSpPr/>
            <p:nvPr/>
          </p:nvSpPr>
          <p:spPr>
            <a:xfrm>
              <a:off x="0" y="0"/>
              <a:ext cx="769424" cy="336039"/>
            </a:xfrm>
            <a:custGeom>
              <a:rect b="b" l="l" r="r" t="t"/>
              <a:pathLst>
                <a:path extrusionOk="0" h="336039" w="769424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cmpd="sng" w="19050">
              <a:solidFill>
                <a:srgbClr val="2BCA8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525" lIns="75525" spcFirstLastPara="1" rIns="75525" wrap="square" tIns="75525">
              <a:noAutofit/>
            </a:bodyPr>
            <a:lstStyle/>
            <a:p>
              <a:pPr indent="0" lvl="0" marL="0" marR="0" rtl="0" algn="ctr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4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159" name="Google Shape;159;p4"/>
            <p:cNvSpPr/>
            <p:nvPr/>
          </p:nvSpPr>
          <p:spPr>
            <a:xfrm>
              <a:off x="0" y="0"/>
              <a:ext cx="769424" cy="336039"/>
            </a:xfrm>
            <a:custGeom>
              <a:rect b="b" l="l" r="r" t="t"/>
              <a:pathLst>
                <a:path extrusionOk="0" h="336039" w="769424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cmpd="sng" w="19050">
              <a:solidFill>
                <a:srgbClr val="2BCA8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525" lIns="75525" spcFirstLastPara="1" rIns="75525" wrap="square" tIns="75525">
              <a:noAutofit/>
            </a:bodyPr>
            <a:lstStyle/>
            <a:p>
              <a:pPr indent="0" lvl="0" marL="0" marR="0" rtl="0" algn="ctr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4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769424" cy="336039"/>
            </a:xfrm>
            <a:custGeom>
              <a:rect b="b" l="l" r="r" t="t"/>
              <a:pathLst>
                <a:path extrusionOk="0" h="336039" w="769424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cmpd="sng" w="19050">
              <a:solidFill>
                <a:srgbClr val="2BCA8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525" lIns="75525" spcFirstLastPara="1" rIns="75525" wrap="square" tIns="75525">
              <a:noAutofit/>
            </a:bodyPr>
            <a:lstStyle/>
            <a:p>
              <a:pPr indent="0" lvl="0" marL="0" marR="0" rtl="0" algn="ctr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4"/>
          <p:cNvGrpSpPr/>
          <p:nvPr/>
        </p:nvGrpSpPr>
        <p:grpSpPr>
          <a:xfrm>
            <a:off x="12872519" y="2288105"/>
            <a:ext cx="4748625" cy="1668281"/>
            <a:chOff x="0" y="0"/>
            <a:chExt cx="6331500" cy="2224375"/>
          </a:xfrm>
        </p:grpSpPr>
        <p:sp>
          <p:nvSpPr>
            <p:cNvPr id="165" name="Google Shape;165;p4"/>
            <p:cNvSpPr txBox="1"/>
            <p:nvPr/>
          </p:nvSpPr>
          <p:spPr>
            <a:xfrm>
              <a:off x="0" y="0"/>
              <a:ext cx="6331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87"/>
                <a:buFont typeface="Arial"/>
                <a:buNone/>
              </a:pPr>
              <a:r>
                <a:rPr b="1" lang="en-US" sz="2387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Class Imbalance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0" y="727075"/>
              <a:ext cx="6331500" cy="14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20"/>
                <a:buFont typeface="Arial"/>
                <a:buNone/>
              </a:pPr>
              <a:r>
                <a:t/>
              </a:r>
              <a:endParaRPr sz="1920">
                <a:solidFill>
                  <a:srgbClr val="B0AFD3"/>
                </a:solidFill>
              </a:endParaRPr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20"/>
                <a:buFont typeface="Arial"/>
                <a:buNone/>
              </a:pPr>
              <a:r>
                <a:rPr lang="en-US" sz="1920">
                  <a:solidFill>
                    <a:srgbClr val="B0AFD3"/>
                  </a:solidFill>
                </a:rPr>
                <a:t>Habitable planets are significantly fewer than non-habitable 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" name="Google Shape;167;p4"/>
          <p:cNvGrpSpPr/>
          <p:nvPr/>
        </p:nvGrpSpPr>
        <p:grpSpPr>
          <a:xfrm>
            <a:off x="7858075" y="2288100"/>
            <a:ext cx="4748675" cy="1728897"/>
            <a:chOff x="-67" y="-225800"/>
            <a:chExt cx="6331567" cy="2305196"/>
          </a:xfrm>
        </p:grpSpPr>
        <p:sp>
          <p:nvSpPr>
            <p:cNvPr id="168" name="Google Shape;168;p4"/>
            <p:cNvSpPr txBox="1"/>
            <p:nvPr/>
          </p:nvSpPr>
          <p:spPr>
            <a:xfrm>
              <a:off x="-67" y="-225800"/>
              <a:ext cx="6331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87"/>
                <a:buFont typeface="Arial"/>
                <a:buNone/>
              </a:pPr>
              <a:r>
                <a:rPr b="1" lang="en-US" sz="2387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Incomplete and Noisy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0" y="582096"/>
              <a:ext cx="6331500" cy="14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20"/>
                <a:buFont typeface="Arial"/>
                <a:buNone/>
              </a:pPr>
              <a:r>
                <a:t/>
              </a:r>
              <a:endParaRPr sz="1920">
                <a:solidFill>
                  <a:srgbClr val="B0AFD3"/>
                </a:solidFill>
              </a:endParaRPr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20"/>
                <a:buFont typeface="Arial"/>
                <a:buNone/>
              </a:pPr>
              <a:r>
                <a:rPr lang="en-US" sz="1920">
                  <a:solidFill>
                    <a:srgbClr val="B0AFD3"/>
                  </a:solidFill>
                </a:rPr>
                <a:t>Datasets contain missing values and inconsistent records.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" name="Google Shape;170;p4"/>
          <p:cNvGrpSpPr/>
          <p:nvPr/>
        </p:nvGrpSpPr>
        <p:grpSpPr>
          <a:xfrm>
            <a:off x="7858117" y="6673030"/>
            <a:ext cx="4748625" cy="1668281"/>
            <a:chOff x="0" y="0"/>
            <a:chExt cx="6331500" cy="2224375"/>
          </a:xfrm>
        </p:grpSpPr>
        <p:sp>
          <p:nvSpPr>
            <p:cNvPr id="171" name="Google Shape;171;p4"/>
            <p:cNvSpPr txBox="1"/>
            <p:nvPr/>
          </p:nvSpPr>
          <p:spPr>
            <a:xfrm>
              <a:off x="0" y="0"/>
              <a:ext cx="6331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87"/>
                <a:buFont typeface="Arial"/>
                <a:buNone/>
              </a:pPr>
              <a:r>
                <a:rPr b="1" lang="en-US" sz="2387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Complex Feature Relationships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"/>
            <p:cNvSpPr txBox="1"/>
            <p:nvPr/>
          </p:nvSpPr>
          <p:spPr>
            <a:xfrm>
              <a:off x="0" y="727075"/>
              <a:ext cx="6331500" cy="14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20"/>
                <a:buFont typeface="Arial"/>
                <a:buNone/>
              </a:pPr>
              <a:r>
                <a:t/>
              </a:r>
              <a:endParaRPr sz="1920">
                <a:solidFill>
                  <a:srgbClr val="B0AFD3"/>
                </a:solidFill>
              </a:endParaRPr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20"/>
                <a:buFont typeface="Arial"/>
                <a:buNone/>
              </a:pPr>
              <a:r>
                <a:rPr lang="en-US" sz="1920">
                  <a:solidFill>
                    <a:srgbClr val="B0AFD3"/>
                  </a:solidFill>
                </a:rPr>
                <a:t>Habitability depends on multiple interacting parameters.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4"/>
          <p:cNvGrpSpPr/>
          <p:nvPr/>
        </p:nvGrpSpPr>
        <p:grpSpPr>
          <a:xfrm>
            <a:off x="12981269" y="6673025"/>
            <a:ext cx="5987708" cy="1733136"/>
            <a:chOff x="347967" y="-86473"/>
            <a:chExt cx="7983610" cy="2310848"/>
          </a:xfrm>
        </p:grpSpPr>
        <p:sp>
          <p:nvSpPr>
            <p:cNvPr id="174" name="Google Shape;174;p4"/>
            <p:cNvSpPr txBox="1"/>
            <p:nvPr/>
          </p:nvSpPr>
          <p:spPr>
            <a:xfrm>
              <a:off x="347977" y="-86473"/>
              <a:ext cx="79836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87"/>
                <a:buFont typeface="Arial"/>
                <a:buNone/>
              </a:pPr>
              <a:r>
                <a:rPr b="1" lang="en-US" sz="2387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Model Generalization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347967" y="727075"/>
              <a:ext cx="6331500" cy="14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20"/>
                <a:buFont typeface="Arial"/>
                <a:buNone/>
              </a:pPr>
              <a:r>
                <a:t/>
              </a:r>
              <a:endParaRPr sz="1920">
                <a:solidFill>
                  <a:srgbClr val="B0AFD3"/>
                </a:solidFill>
              </a:endParaRPr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20"/>
                <a:buFont typeface="Arial"/>
                <a:buNone/>
              </a:pPr>
              <a:r>
                <a:rPr lang="en-US" sz="1920">
                  <a:solidFill>
                    <a:srgbClr val="B0AFD3"/>
                  </a:solidFill>
                </a:rPr>
                <a:t>Ensuring reliable performance on unseen exoplanet data.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4"/>
          <p:cNvGrpSpPr/>
          <p:nvPr/>
        </p:nvGrpSpPr>
        <p:grpSpPr>
          <a:xfrm rot="10800000">
            <a:off x="-1034932" y="6996006"/>
            <a:ext cx="3454198" cy="4601347"/>
            <a:chOff x="-67778" y="-102346"/>
            <a:chExt cx="4605597" cy="6135130"/>
          </a:xfrm>
        </p:grpSpPr>
        <p:grpSp>
          <p:nvGrpSpPr>
            <p:cNvPr id="177" name="Google Shape;177;p4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178" name="Google Shape;178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19050">
                <a:solidFill>
                  <a:srgbClr val="2BCA8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4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525" lIns="152525" spcFirstLastPara="1" rIns="152525" wrap="square" tIns="152525">
                <a:noAutofit/>
              </a:bodyPr>
              <a:lstStyle/>
              <a:p>
                <a:pPr indent="0" lvl="0" marL="0" marR="0" rtl="0" algn="ctr">
                  <a:lnSpc>
                    <a:spcPct val="104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" name="Google Shape;180;p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181" name="Google Shape;181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5700" lIns="55700" spcFirstLastPara="1" rIns="55700" wrap="square" tIns="55700">
                <a:noAutofit/>
              </a:bodyPr>
              <a:lstStyle/>
              <a:p>
                <a:pPr indent="0" lvl="0" marL="0" marR="0" rtl="0" algn="ctr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3" name="Google Shape;183;p4"/>
          <p:cNvSpPr txBox="1"/>
          <p:nvPr/>
        </p:nvSpPr>
        <p:spPr>
          <a:xfrm>
            <a:off x="13182624" y="6020717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8182611" y="6002585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13186394" y="1543967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8227209" y="1543967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 txBox="1"/>
          <p:nvPr/>
        </p:nvSpPr>
        <p:spPr>
          <a:xfrm>
            <a:off x="12892100" y="7359448"/>
            <a:ext cx="4010100" cy="18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Prediction Accuracy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Scientific and Practical Relevance</a:t>
            </a:r>
            <a:endParaRPr b="1"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7139002" y="7354100"/>
            <a:ext cx="4587750" cy="1985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System Implementation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Integrated ML, backend APIs, frontend UI, and deployment.</a:t>
            </a:r>
            <a:b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1538288" y="7359447"/>
            <a:ext cx="4010100" cy="14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 Class Imbalance Handling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Planet Ranking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666750" y="800100"/>
            <a:ext cx="16954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Measurable Outcomes and Positive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66750" y="3352800"/>
            <a:ext cx="5448300" cy="3581400"/>
          </a:xfrm>
          <a:custGeom>
            <a:rect b="b" l="l" r="r" t="t"/>
            <a:pathLst>
              <a:path extrusionOk="0" h="1072184" w="1631088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0" r="-81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419850" y="3352800"/>
            <a:ext cx="5448300" cy="3581400"/>
          </a:xfrm>
          <a:custGeom>
            <a:rect b="b" l="l" r="r" t="t"/>
            <a:pathLst>
              <a:path extrusionOk="0" h="1072184" w="1631088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0" r="-81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2172950" y="3352800"/>
            <a:ext cx="5448300" cy="3581400"/>
          </a:xfrm>
          <a:custGeom>
            <a:rect b="b" l="l" r="r" t="t"/>
            <a:pathLst>
              <a:path extrusionOk="0" h="1072184" w="1631088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80" r="-81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9" title="Taking Inputs and Making Predi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75" y="203600"/>
            <a:ext cx="9836566" cy="49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9" title="Overall Web Page.png"/>
          <p:cNvPicPr preferRelativeResize="0"/>
          <p:nvPr/>
        </p:nvPicPr>
        <p:blipFill rotWithShape="1">
          <a:blip r:embed="rId4">
            <a:alphaModFix/>
          </a:blip>
          <a:srcRect b="0" l="24204" r="24460" t="0"/>
          <a:stretch/>
        </p:blipFill>
        <p:spPr>
          <a:xfrm>
            <a:off x="10313800" y="203600"/>
            <a:ext cx="7822399" cy="987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9" title="Output Visualization graph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250" y="5143500"/>
            <a:ext cx="9908824" cy="493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92979c7e3_0_76"/>
          <p:cNvSpPr txBox="1"/>
          <p:nvPr/>
        </p:nvSpPr>
        <p:spPr>
          <a:xfrm>
            <a:off x="3144275" y="0"/>
            <a:ext cx="9631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b92979c7e3_0_76"/>
          <p:cNvSpPr txBox="1"/>
          <p:nvPr/>
        </p:nvSpPr>
        <p:spPr>
          <a:xfrm>
            <a:off x="348250" y="1416000"/>
            <a:ext cx="17734500" cy="84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successfully demonstrates the application of machine learning and full-stack development to solve a real-world scientific problem. By integrating data preprocessing, advanced ML models, REST APIs, interactive UI, visualization dashboards, and cloud deployment, the system provides a scalable and efficient solution for exoplanet habitability prediction.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reflects strong practical skills in data science, machine learning, backend and frontend development, and deployment, making it a comprehensive and impactful AI-based solution.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500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developed a </a:t>
            </a: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end-to-end machine learning system</a:t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</a:t>
            </a: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habitability prediction and exoplanet ranking</a:t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</a:t>
            </a: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models, backend APIs, frontend UI, visualization, and deployment</a:t>
            </a:r>
            <a:endParaRPr b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Char char="●"/>
            </a:pPr>
            <a:r>
              <a:rPr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Delivered a </a:t>
            </a:r>
            <a:r>
              <a:rPr b="1" lang="en-US"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production-ready full-stack solution</a:t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/>
          <p:nvPr/>
        </p:nvSpPr>
        <p:spPr>
          <a:xfrm>
            <a:off x="3480181" y="1264697"/>
            <a:ext cx="11844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FFFFFF"/>
                </a:solidFill>
              </a:rPr>
              <a:t>Live Link</a:t>
            </a:r>
            <a:r>
              <a:rPr b="1" i="0" lang="en-US" sz="9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2801575" y="4050525"/>
            <a:ext cx="12522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en-US" sz="5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https://habitability-of-exoplanets-hl2e.onrender.com/</a:t>
            </a:r>
            <a:endParaRPr i="0" sz="57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/>
          <p:nvPr/>
        </p:nvSpPr>
        <p:spPr>
          <a:xfrm>
            <a:off x="9296400" y="-103861"/>
            <a:ext cx="9198063" cy="10494722"/>
          </a:xfrm>
          <a:custGeom>
            <a:rect b="b" l="l" r="r" t="t"/>
            <a:pathLst>
              <a:path extrusionOk="0" h="1625907" w="1425021">
                <a:moveTo>
                  <a:pt x="0" y="0"/>
                </a:moveTo>
                <a:lnTo>
                  <a:pt x="1425021" y="0"/>
                </a:lnTo>
                <a:lnTo>
                  <a:pt x="1425021" y="1625907"/>
                </a:lnTo>
                <a:lnTo>
                  <a:pt x="0" y="162590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1" l="0" r="0" t="-152"/>
            </a:stretch>
          </a:blip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2" name="Google Shape;222;p14"/>
          <p:cNvSpPr txBox="1"/>
          <p:nvPr/>
        </p:nvSpPr>
        <p:spPr>
          <a:xfrm>
            <a:off x="6361866" y="3825567"/>
            <a:ext cx="8662833" cy="104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8"/>
              <a:buFont typeface="Arial"/>
              <a:buNone/>
            </a:pPr>
            <a:r>
              <a:rPr b="0" i="0" lang="en-US" sz="7858" u="none" cap="none" strike="noStrike">
                <a:solidFill>
                  <a:srgbClr val="55D0FA"/>
                </a:solidFill>
                <a:latin typeface="Arial"/>
                <a:ea typeface="Arial"/>
                <a:cs typeface="Arial"/>
                <a:sym typeface="Arial"/>
              </a:rPr>
              <a:t>Thank</a:t>
            </a:r>
            <a:r>
              <a:rPr b="0" i="0" lang="en-US" sz="7858" u="none" cap="none" strike="noStrik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7858" u="none" cap="none" strike="noStrike">
                <a:solidFill>
                  <a:srgbClr val="1A1F4A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r>
              <a:rPr b="0" i="0" lang="en-US" sz="7858" u="none" cap="none" strike="noStrik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14"/>
          <p:cNvGrpSpPr/>
          <p:nvPr/>
        </p:nvGrpSpPr>
        <p:grpSpPr>
          <a:xfrm rot="10800000">
            <a:off x="7289918" y="6934199"/>
            <a:ext cx="3479615" cy="4601348"/>
            <a:chOff x="-101668" y="-102346"/>
            <a:chExt cx="4639487" cy="6135132"/>
          </a:xfrm>
        </p:grpSpPr>
        <p:grpSp>
          <p:nvGrpSpPr>
            <p:cNvPr id="224" name="Google Shape;224;p14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225" name="Google Shape;225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19050">
                <a:solidFill>
                  <a:srgbClr val="2BCA8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525" lIns="152525" spcFirstLastPara="1" rIns="152525" wrap="square" tIns="152525">
                <a:noAutofit/>
              </a:bodyPr>
              <a:lstStyle/>
              <a:p>
                <a:pPr indent="0" lvl="0" marL="0" marR="0" rtl="0" algn="ctr">
                  <a:lnSpc>
                    <a:spcPct val="13077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" name="Google Shape;227;p1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228" name="Google Shape;228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35E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5700" lIns="55700" spcFirstLastPara="1" rIns="55700" wrap="square" tIns="55700">
                <a:noAutofit/>
              </a:bodyPr>
              <a:lstStyle/>
              <a:p>
                <a:pPr indent="0" lvl="0" marL="0" marR="0" rtl="0" algn="ctr">
                  <a:lnSpc>
                    <a:spcPct val="11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